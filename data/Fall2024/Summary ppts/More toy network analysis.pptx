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0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082AD7-E017-47DC-A6E3-72FAD5CD7E1F}" v="97" dt="2024-07-12T23:36:20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31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3%20gene%204%20edge%20network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percent error for</a:t>
            </a:r>
            <a:r>
              <a:rPr lang="en-US" baseline="0"/>
              <a:t> </a:t>
            </a:r>
            <a:r>
              <a:rPr lang="en-US"/>
              <a:t>3 gene, 4 node networks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'[3 gene 4 edge network analysis.xlsx]Sheet8'!$A$15</c:f>
              <c:strCache>
                <c:ptCount val="1"/>
                <c:pt idx="0">
                  <c:v>p and b constant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'[3 gene 4 edge network analysis.xlsx]Sheet8'!$B$14:$G$14</c:f>
              <c:strCache>
                <c:ptCount val="6"/>
                <c:pt idx="0">
                  <c:v>trial 4</c:v>
                </c:pt>
                <c:pt idx="1">
                  <c:v>trial 5</c:v>
                </c:pt>
                <c:pt idx="2">
                  <c:v>trial 6</c:v>
                </c:pt>
                <c:pt idx="3">
                  <c:v>trial 7</c:v>
                </c:pt>
                <c:pt idx="4">
                  <c:v>trial 8</c:v>
                </c:pt>
                <c:pt idx="5">
                  <c:v>trial 9</c:v>
                </c:pt>
              </c:strCache>
            </c:strRef>
          </c:xVal>
          <c:yVal>
            <c:numRef>
              <c:f>'[3 gene 4 edge network analysis.xlsx]Sheet8'!$B$15:$G$15</c:f>
              <c:numCache>
                <c:formatCode>General</c:formatCode>
                <c:ptCount val="6"/>
                <c:pt idx="0">
                  <c:v>3.2534866000000003E-2</c:v>
                </c:pt>
                <c:pt idx="1">
                  <c:v>92.055899740000001</c:v>
                </c:pt>
                <c:pt idx="3">
                  <c:v>4.1798300000000003E-4</c:v>
                </c:pt>
                <c:pt idx="4">
                  <c:v>1.434301E-3</c:v>
                </c:pt>
                <c:pt idx="5">
                  <c:v>8.6227327749999994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7FC-45E9-A050-275AF9079099}"/>
            </c:ext>
          </c:extLst>
        </c:ser>
        <c:ser>
          <c:idx val="1"/>
          <c:order val="1"/>
          <c:tx>
            <c:strRef>
              <c:f>'[3 gene 4 edge network analysis.xlsx]Sheet8'!$A$16</c:f>
              <c:strCache>
                <c:ptCount val="1"/>
                <c:pt idx="0">
                  <c:v>p constant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strRef>
              <c:f>'[3 gene 4 edge network analysis.xlsx]Sheet8'!$B$14:$G$14</c:f>
              <c:strCache>
                <c:ptCount val="6"/>
                <c:pt idx="0">
                  <c:v>trial 4</c:v>
                </c:pt>
                <c:pt idx="1">
                  <c:v>trial 5</c:v>
                </c:pt>
                <c:pt idx="2">
                  <c:v>trial 6</c:v>
                </c:pt>
                <c:pt idx="3">
                  <c:v>trial 7</c:v>
                </c:pt>
                <c:pt idx="4">
                  <c:v>trial 8</c:v>
                </c:pt>
                <c:pt idx="5">
                  <c:v>trial 9</c:v>
                </c:pt>
              </c:strCache>
            </c:strRef>
          </c:xVal>
          <c:yVal>
            <c:numRef>
              <c:f>'[3 gene 4 edge network analysis.xlsx]Sheet8'!$B$16:$G$16</c:f>
              <c:numCache>
                <c:formatCode>General</c:formatCode>
                <c:ptCount val="6"/>
                <c:pt idx="0">
                  <c:v>1.0098724999999999E-2</c:v>
                </c:pt>
                <c:pt idx="1">
                  <c:v>98.453718949999995</c:v>
                </c:pt>
                <c:pt idx="2">
                  <c:v>3.0429917070000001</c:v>
                </c:pt>
                <c:pt idx="3">
                  <c:v>1.6026014000000002E-2</c:v>
                </c:pt>
                <c:pt idx="4">
                  <c:v>5.284693E-3</c:v>
                </c:pt>
                <c:pt idx="5">
                  <c:v>6.3165598730000001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7FC-45E9-A050-275AF9079099}"/>
            </c:ext>
          </c:extLst>
        </c:ser>
        <c:ser>
          <c:idx val="2"/>
          <c:order val="2"/>
          <c:tx>
            <c:strRef>
              <c:f>'[3 gene 4 edge network analysis.xlsx]Sheet8'!$A$17</c:f>
              <c:strCache>
                <c:ptCount val="1"/>
                <c:pt idx="0">
                  <c:v>b constant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strRef>
              <c:f>'[3 gene 4 edge network analysis.xlsx]Sheet8'!$B$14:$G$14</c:f>
              <c:strCache>
                <c:ptCount val="6"/>
                <c:pt idx="0">
                  <c:v>trial 4</c:v>
                </c:pt>
                <c:pt idx="1">
                  <c:v>trial 5</c:v>
                </c:pt>
                <c:pt idx="2">
                  <c:v>trial 6</c:v>
                </c:pt>
                <c:pt idx="3">
                  <c:v>trial 7</c:v>
                </c:pt>
                <c:pt idx="4">
                  <c:v>trial 8</c:v>
                </c:pt>
                <c:pt idx="5">
                  <c:v>trial 9</c:v>
                </c:pt>
              </c:strCache>
            </c:strRef>
          </c:xVal>
          <c:yVal>
            <c:numRef>
              <c:f>'[3 gene 4 edge network analysis.xlsx]Sheet8'!$B$17:$G$17</c:f>
              <c:numCache>
                <c:formatCode>General</c:formatCode>
                <c:ptCount val="6"/>
                <c:pt idx="0">
                  <c:v>7.565797034</c:v>
                </c:pt>
                <c:pt idx="1">
                  <c:v>102.25998389999999</c:v>
                </c:pt>
                <c:pt idx="2">
                  <c:v>2.751327E-3</c:v>
                </c:pt>
                <c:pt idx="3">
                  <c:v>5.9162052190000001</c:v>
                </c:pt>
                <c:pt idx="4">
                  <c:v>166.12536449999999</c:v>
                </c:pt>
                <c:pt idx="5">
                  <c:v>165.977768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7FC-45E9-A050-275AF9079099}"/>
            </c:ext>
          </c:extLst>
        </c:ser>
        <c:ser>
          <c:idx val="3"/>
          <c:order val="3"/>
          <c:tx>
            <c:strRef>
              <c:f>'[3 gene 4 edge network analysis.xlsx]Sheet8'!$A$18</c:f>
              <c:strCache>
                <c:ptCount val="1"/>
                <c:pt idx="0">
                  <c:v>no constant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xVal>
            <c:strRef>
              <c:f>'[3 gene 4 edge network analysis.xlsx]Sheet8'!$B$14:$G$14</c:f>
              <c:strCache>
                <c:ptCount val="6"/>
                <c:pt idx="0">
                  <c:v>trial 4</c:v>
                </c:pt>
                <c:pt idx="1">
                  <c:v>trial 5</c:v>
                </c:pt>
                <c:pt idx="2">
                  <c:v>trial 6</c:v>
                </c:pt>
                <c:pt idx="3">
                  <c:v>trial 7</c:v>
                </c:pt>
                <c:pt idx="4">
                  <c:v>trial 8</c:v>
                </c:pt>
                <c:pt idx="5">
                  <c:v>trial 9</c:v>
                </c:pt>
              </c:strCache>
            </c:strRef>
          </c:xVal>
          <c:yVal>
            <c:numRef>
              <c:f>'[3 gene 4 edge network analysis.xlsx]Sheet8'!$B$18:$G$18</c:f>
              <c:numCache>
                <c:formatCode>General</c:formatCode>
                <c:ptCount val="6"/>
                <c:pt idx="0">
                  <c:v>22.465584570000001</c:v>
                </c:pt>
                <c:pt idx="1">
                  <c:v>101.3101892</c:v>
                </c:pt>
                <c:pt idx="2">
                  <c:v>32.25892528</c:v>
                </c:pt>
                <c:pt idx="3">
                  <c:v>57.738233780000002</c:v>
                </c:pt>
                <c:pt idx="4">
                  <c:v>39.513592529999997</c:v>
                </c:pt>
                <c:pt idx="5">
                  <c:v>54.236700429999999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67FC-45E9-A050-275AF90790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26838640"/>
        <c:axId val="1526839120"/>
      </c:scatterChart>
      <c:valAx>
        <c:axId val="1526838640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trial 4</a:t>
                </a:r>
                <a:r>
                  <a:rPr lang="en-US" baseline="0"/>
                  <a:t>            trial 5            trial 6            trial 7            trial 8            trial 9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0.21681467132902318"/>
              <c:y val="0.890241519494605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526839120"/>
        <c:crosses val="autoZero"/>
        <c:crossBetween val="midCat"/>
      </c:valAx>
      <c:valAx>
        <c:axId val="1526839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 error</a:t>
                </a:r>
                <a:r>
                  <a:rPr lang="en-US" baseline="0"/>
                  <a:t> (%)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68386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DB435-BF4D-6FA3-C021-703DD5FA5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1055B-AACB-8B39-4209-09A9B96D7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4C25B-CE86-EF29-2D67-98FA67CDF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5478-1E43-4CE2-9079-24EB7BB4D8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15CA7-4AA1-6E63-7C39-1381495A9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1FD84-E6EC-A840-99CD-91026A8B1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4D606-F53B-4075-A8FE-BD8CED3A1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63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8C6E-3C65-518C-60D5-753ECFF44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392E9-2F1D-D727-916A-306F8E034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2C35A-B7A3-030A-7CF0-4B048FD61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5478-1E43-4CE2-9079-24EB7BB4D8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E7409-DFF2-8601-E6A4-479D8048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C59DD-131B-AC04-B9E7-004F09CFA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4D606-F53B-4075-A8FE-BD8CED3A1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70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A2F4-BBD0-6A65-6131-53514138E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31184-E744-2BAE-8EA1-7D8DCFD5F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479ED-7CAA-14D2-93B0-82673F21E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5478-1E43-4CE2-9079-24EB7BB4D8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DAB91-8178-1AE5-9493-EBFA09D91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D6DC-3907-48B9-9048-FA0E3665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4D606-F53B-4075-A8FE-BD8CED3A1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70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9D137-4A51-5DAE-D860-757A4598C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F7088-D7C8-D8DD-BD17-E30E76C05A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D69C6-4A2D-EFBE-F163-ACDA45633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8CD86-4A2B-933A-3F2B-746E2D089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5478-1E43-4CE2-9079-24EB7BB4D8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1D28A-7AE5-2FE8-BD71-A5F0AF1D5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ECA5E-773D-53B1-7E0F-920642B8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4D606-F53B-4075-A8FE-BD8CED3A1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59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DA6F1-0C61-959C-E249-69514EE9E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EE18D-97FB-E412-B248-EA721C81C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2393A6-E08A-652F-903A-9FC843836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06C28-257F-9865-1511-399BD67C7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A98602-FDD8-F881-AFB2-B799442A0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99F158-1B6E-7E83-4E3E-C845AE744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5478-1E43-4CE2-9079-24EB7BB4D8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56E391-46F1-E10A-228F-76756AEF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F8EAC1-AE24-E037-058B-0299F7D8F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4D606-F53B-4075-A8FE-BD8CED3A1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44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66F4-AFD9-23C0-DBD9-AB64D22C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B3452C-49BB-13B4-C576-29B7C2250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5478-1E43-4CE2-9079-24EB7BB4D8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03F34-6D14-2A97-192A-4DC1EE27E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347808-A3BC-7B9F-BD8C-329B99ED1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4D606-F53B-4075-A8FE-BD8CED3A1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69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25CF9A-8E81-B1BE-D0C9-341529813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5478-1E43-4CE2-9079-24EB7BB4D8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D05C6-2663-0ECE-7003-BB10AAA7A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C9CDA-34F0-5380-D2E0-B796FE00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4D606-F53B-4075-A8FE-BD8CED3A1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28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C189-C12B-2A3A-3863-DAC780896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E7AC3-35F9-C5A5-668E-E8DBDB35E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43517-354E-3F45-3612-B9684FB1C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F3422-B9CA-25F5-27EC-846388C5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5478-1E43-4CE2-9079-24EB7BB4D8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AAD83-1273-E7A5-20A7-3E4584EBC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9F7DE-755D-22C0-1035-FAF99CC4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4D606-F53B-4075-A8FE-BD8CED3A1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38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B751-F60A-D26C-200A-6221F8B9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DA5391-1890-0B77-6C17-2CDC1CA22D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D582F-9F63-B3CA-5C77-23B7B80E7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AC8C4-0FA5-A50E-2E55-6DCE2770D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5478-1E43-4CE2-9079-24EB7BB4D8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23AC1-54ED-2237-4A4E-95C603E3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CC421-5953-BDFB-2464-708117093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4D606-F53B-4075-A8FE-BD8CED3A1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58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2C6A-B1F9-E696-8D48-476999EDE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344E1-85F3-3E6B-3D66-4AB18100D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B96AD-936F-8467-8268-30C6724F0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5478-1E43-4CE2-9079-24EB7BB4D8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59C0F-3B54-0B0C-28E9-9F09C98E5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49E7A-0B9E-E2EA-0CAC-CBCBAC0A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4D606-F53B-4075-A8FE-BD8CED3A1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01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C9D0F8-E665-EF6D-A7AE-768873523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67217-5AAA-EF00-55C8-FC54DB88C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1162D-73A7-8E0E-39B9-8605D4365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5478-1E43-4CE2-9079-24EB7BB4D8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3CEF0-B0B8-7626-6B27-CB93AC11C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1BFEB-A763-C2C9-64C2-EE4893D9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4D606-F53B-4075-A8FE-BD8CED3A1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2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9C5D10-44E1-4D2C-9422-C159CC3C0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29D41-2A6C-461A-98A8-B672B688E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C47E-9BFF-A5ED-392F-C2A880860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A55478-1E43-4CE2-9079-24EB7BB4D8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2FF2A-5B12-EFB4-3402-338F27F81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02F53-24A4-0320-A1C2-A232E5602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94D606-F53B-4075-A8FE-BD8CED3A1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0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42B49-3D6A-5CB7-CF52-466764CFF6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Summer 2024 wrap up</a:t>
            </a:r>
          </a:p>
        </p:txBody>
      </p:sp>
    </p:spTree>
    <p:extLst>
      <p:ext uri="{BB962C8B-B14F-4D97-AF65-F5344CB8AC3E}">
        <p14:creationId xmlns:p14="http://schemas.microsoft.com/office/powerpoint/2010/main" val="444506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BBA15-6D88-CF3B-AC81-AE9689174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gene 4 node toy network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FAA22-75BA-BCA3-2A0E-FA2BCCE7A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9506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Previous 3 gene 4 node networks have shown that weight estimation is greatly improved when the p values are help constant </a:t>
            </a:r>
          </a:p>
          <a:p>
            <a:pPr lvl="1"/>
            <a:r>
              <a:rPr lang="en-US" dirty="0"/>
              <a:t>Typically, estimation is best for trials where p’s and b’s are held constant followed by a slight increase in error when just p is held constant </a:t>
            </a:r>
          </a:p>
          <a:p>
            <a:r>
              <a:rPr lang="en-US" dirty="0"/>
              <a:t>5 more runs were conducted to confirm whether this was the case </a:t>
            </a:r>
          </a:p>
          <a:p>
            <a:pPr lvl="1"/>
            <a:r>
              <a:rPr lang="en-US" dirty="0"/>
              <a:t>Between all runs the percent error where there are no constants or only b is constant is higher than when p or p and b are constant </a:t>
            </a:r>
          </a:p>
          <a:p>
            <a:r>
              <a:rPr lang="en-US" dirty="0"/>
              <a:t>Average percent errors: </a:t>
            </a:r>
          </a:p>
          <a:p>
            <a:pPr lvl="1"/>
            <a:r>
              <a:rPr lang="en-US" dirty="0"/>
              <a:t>P and b constant –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20.1426%</a:t>
            </a:r>
            <a:endParaRPr lang="en-US" dirty="0"/>
          </a:p>
          <a:p>
            <a:pPr lvl="1"/>
            <a:r>
              <a:rPr lang="en-US" dirty="0"/>
              <a:t>P constant –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17.97411%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 constant –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74.64131%</a:t>
            </a:r>
            <a:endParaRPr lang="en-US" dirty="0"/>
          </a:p>
          <a:p>
            <a:pPr lvl="1"/>
            <a:r>
              <a:rPr lang="en-US" dirty="0"/>
              <a:t>No constants -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51.25387%</a:t>
            </a: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32145AB-5340-7B67-945E-F16D8C1C23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9948807"/>
              </p:ext>
            </p:extLst>
          </p:nvPr>
        </p:nvGraphicFramePr>
        <p:xfrm>
          <a:off x="7033260" y="1585754"/>
          <a:ext cx="4770120" cy="4831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5251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B643-8C1B-59F0-2A19-0DB07741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7 – output follows expected trends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FED91C-32C7-4E78-F9CF-E11407A67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69465"/>
            <a:ext cx="2453640" cy="9296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5AE2B0-CEC0-1C47-27DF-3ADF794F8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160" y="2069465"/>
            <a:ext cx="2270760" cy="9296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E55EFE-FF69-832F-F8C7-0834BA5E6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460" y="4043362"/>
            <a:ext cx="7736840" cy="1632339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FA032F-F339-036B-8AAA-868A554BEDA6}"/>
              </a:ext>
            </a:extLst>
          </p:cNvPr>
          <p:cNvSpPr/>
          <p:nvPr/>
        </p:nvSpPr>
        <p:spPr>
          <a:xfrm>
            <a:off x="3152140" y="2734945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A28950-9D82-C7B5-74E2-EA8E70A92FFD}"/>
              </a:ext>
            </a:extLst>
          </p:cNvPr>
          <p:cNvSpPr/>
          <p:nvPr/>
        </p:nvSpPr>
        <p:spPr>
          <a:xfrm>
            <a:off x="2319020" y="1887218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B9721E-6277-3E29-2D9B-ECF65B739552}"/>
              </a:ext>
            </a:extLst>
          </p:cNvPr>
          <p:cNvSpPr/>
          <p:nvPr/>
        </p:nvSpPr>
        <p:spPr>
          <a:xfrm>
            <a:off x="3985260" y="1879122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gene2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DF054D09-95D5-36C1-A189-EFE59B777E44}"/>
              </a:ext>
            </a:extLst>
          </p:cNvPr>
          <p:cNvCxnSpPr>
            <a:cxnSpLocks/>
            <a:stCxn id="9" idx="1"/>
            <a:endCxn id="9" idx="0"/>
          </p:cNvCxnSpPr>
          <p:nvPr/>
        </p:nvCxnSpPr>
        <p:spPr>
          <a:xfrm rot="10800000" flipH="1">
            <a:off x="2319020" y="1887218"/>
            <a:ext cx="416560" cy="264160"/>
          </a:xfrm>
          <a:prstGeom prst="curvedConnector4">
            <a:avLst>
              <a:gd name="adj1" fmla="val -54878"/>
              <a:gd name="adj2" fmla="val 2326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C501DF8A-3230-D806-CABB-D39CED52B49D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>
            <a:off x="4401820" y="1879123"/>
            <a:ext cx="416560" cy="288927"/>
          </a:xfrm>
          <a:prstGeom prst="curvedConnector4">
            <a:avLst>
              <a:gd name="adj1" fmla="val -40244"/>
              <a:gd name="adj2" fmla="val 2002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D4E3E9-3216-78AD-4618-F68B1DAA25CB}"/>
              </a:ext>
            </a:extLst>
          </p:cNvPr>
          <p:cNvCxnSpPr>
            <a:cxnSpLocks/>
            <a:stCxn id="10" idx="2"/>
            <a:endCxn id="11" idx="3"/>
          </p:cNvCxnSpPr>
          <p:nvPr/>
        </p:nvCxnSpPr>
        <p:spPr>
          <a:xfrm flipH="1">
            <a:off x="3985260" y="2407442"/>
            <a:ext cx="416560" cy="591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92B87F2-BEBD-A2EC-D6B0-C015F99DB896}"/>
              </a:ext>
            </a:extLst>
          </p:cNvPr>
          <p:cNvCxnSpPr>
            <a:cxnSpLocks/>
            <a:stCxn id="11" idx="1"/>
            <a:endCxn id="9" idx="2"/>
          </p:cNvCxnSpPr>
          <p:nvPr/>
        </p:nvCxnSpPr>
        <p:spPr>
          <a:xfrm flipH="1" flipV="1">
            <a:off x="2735580" y="2415538"/>
            <a:ext cx="416560" cy="583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151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B643-8C1B-59F0-2A19-0DB07741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Trial 4 – output generally follows expected trends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FA032F-F339-036B-8AAA-868A554BEDA6}"/>
              </a:ext>
            </a:extLst>
          </p:cNvPr>
          <p:cNvSpPr/>
          <p:nvPr/>
        </p:nvSpPr>
        <p:spPr>
          <a:xfrm>
            <a:off x="2166620" y="2804481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A28950-9D82-C7B5-74E2-EA8E70A92FFD}"/>
              </a:ext>
            </a:extLst>
          </p:cNvPr>
          <p:cNvSpPr/>
          <p:nvPr/>
        </p:nvSpPr>
        <p:spPr>
          <a:xfrm>
            <a:off x="1333500" y="1956754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B9721E-6277-3E29-2D9B-ECF65B739552}"/>
              </a:ext>
            </a:extLst>
          </p:cNvPr>
          <p:cNvSpPr/>
          <p:nvPr/>
        </p:nvSpPr>
        <p:spPr>
          <a:xfrm>
            <a:off x="2999740" y="1948658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gene2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DF054D09-95D5-36C1-A189-EFE59B777E44}"/>
              </a:ext>
            </a:extLst>
          </p:cNvPr>
          <p:cNvCxnSpPr>
            <a:cxnSpLocks/>
            <a:stCxn id="9" idx="1"/>
            <a:endCxn id="9" idx="0"/>
          </p:cNvCxnSpPr>
          <p:nvPr/>
        </p:nvCxnSpPr>
        <p:spPr>
          <a:xfrm rot="10800000" flipH="1">
            <a:off x="1333500" y="1956754"/>
            <a:ext cx="416560" cy="264160"/>
          </a:xfrm>
          <a:prstGeom prst="curvedConnector4">
            <a:avLst>
              <a:gd name="adj1" fmla="val -54878"/>
              <a:gd name="adj2" fmla="val 2326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D4E3E9-3216-78AD-4618-F68B1DAA25CB}"/>
              </a:ext>
            </a:extLst>
          </p:cNvPr>
          <p:cNvCxnSpPr>
            <a:cxnSpLocks/>
            <a:stCxn id="9" idx="2"/>
            <a:endCxn id="11" idx="1"/>
          </p:cNvCxnSpPr>
          <p:nvPr/>
        </p:nvCxnSpPr>
        <p:spPr>
          <a:xfrm>
            <a:off x="1750060" y="2485074"/>
            <a:ext cx="416560" cy="583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92B87F2-BEBD-A2EC-D6B0-C015F99DB896}"/>
              </a:ext>
            </a:extLst>
          </p:cNvPr>
          <p:cNvCxnSpPr>
            <a:cxnSpLocks/>
          </p:cNvCxnSpPr>
          <p:nvPr/>
        </p:nvCxnSpPr>
        <p:spPr>
          <a:xfrm flipV="1">
            <a:off x="2166620" y="2118601"/>
            <a:ext cx="833120" cy="8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5F65CFEC-1AAE-37BA-4806-9DBECFAAC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420" y="1596395"/>
            <a:ext cx="2468880" cy="9296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CA5693D-5292-A873-B8E5-0B3D9024E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815" y="4493103"/>
            <a:ext cx="8040370" cy="1684209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B19896-5E54-C476-16FF-3D71EB298C14}"/>
              </a:ext>
            </a:extLst>
          </p:cNvPr>
          <p:cNvCxnSpPr/>
          <p:nvPr/>
        </p:nvCxnSpPr>
        <p:spPr>
          <a:xfrm flipH="1">
            <a:off x="2166620" y="2348946"/>
            <a:ext cx="833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470EFC9D-DEDB-2F99-FC8A-A2D494247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900" y="2776857"/>
            <a:ext cx="2407920" cy="929640"/>
          </a:xfrm>
          <a:prstGeom prst="rect">
            <a:avLst/>
          </a:prstGeom>
        </p:spPr>
      </p:pic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5D16638F-5210-2694-11F4-A42DE97A1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4410" y="1600866"/>
            <a:ext cx="4603750" cy="2788254"/>
          </a:xfrm>
        </p:spPr>
        <p:txBody>
          <a:bodyPr>
            <a:noAutofit/>
          </a:bodyPr>
          <a:lstStyle/>
          <a:p>
            <a:r>
              <a:rPr lang="en-US" sz="2000" dirty="0"/>
              <a:t>Interestingly for this trial, the estimated weights where only P was held constant were slightly better than when both P and B were held constant</a:t>
            </a:r>
          </a:p>
          <a:p>
            <a:pPr lvl="1"/>
            <a:r>
              <a:rPr lang="en-US" sz="1200" dirty="0"/>
              <a:t>Average % error for P and B constant -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0.032534866% 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</a:rPr>
              <a:t>Average % error for P constant - 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0.010098725% </a:t>
            </a:r>
            <a:endParaRPr lang="en-US" sz="1200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Despite that slight variance, this trial followed what had been seen in the past </a:t>
            </a:r>
          </a:p>
        </p:txBody>
      </p:sp>
    </p:spTree>
    <p:extLst>
      <p:ext uri="{BB962C8B-B14F-4D97-AF65-F5344CB8AC3E}">
        <p14:creationId xmlns:p14="http://schemas.microsoft.com/office/powerpoint/2010/main" val="145687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B643-8C1B-59F0-2A19-0DB07741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Trial 8 – output inconsistent for constant B run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FA032F-F339-036B-8AAA-868A554BEDA6}"/>
              </a:ext>
            </a:extLst>
          </p:cNvPr>
          <p:cNvSpPr/>
          <p:nvPr/>
        </p:nvSpPr>
        <p:spPr>
          <a:xfrm>
            <a:off x="2166620" y="2804481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A28950-9D82-C7B5-74E2-EA8E70A92FFD}"/>
              </a:ext>
            </a:extLst>
          </p:cNvPr>
          <p:cNvSpPr/>
          <p:nvPr/>
        </p:nvSpPr>
        <p:spPr>
          <a:xfrm>
            <a:off x="1333500" y="1956754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B9721E-6277-3E29-2D9B-ECF65B739552}"/>
              </a:ext>
            </a:extLst>
          </p:cNvPr>
          <p:cNvSpPr/>
          <p:nvPr/>
        </p:nvSpPr>
        <p:spPr>
          <a:xfrm>
            <a:off x="2999740" y="1948658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gene2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DF054D09-95D5-36C1-A189-EFE59B777E44}"/>
              </a:ext>
            </a:extLst>
          </p:cNvPr>
          <p:cNvCxnSpPr>
            <a:cxnSpLocks/>
            <a:stCxn id="9" idx="1"/>
            <a:endCxn id="9" idx="0"/>
          </p:cNvCxnSpPr>
          <p:nvPr/>
        </p:nvCxnSpPr>
        <p:spPr>
          <a:xfrm rot="10800000" flipH="1">
            <a:off x="1333500" y="1956754"/>
            <a:ext cx="416560" cy="264160"/>
          </a:xfrm>
          <a:prstGeom prst="curvedConnector4">
            <a:avLst>
              <a:gd name="adj1" fmla="val -54878"/>
              <a:gd name="adj2" fmla="val 2326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D4E3E9-3216-78AD-4618-F68B1DAA25CB}"/>
              </a:ext>
            </a:extLst>
          </p:cNvPr>
          <p:cNvCxnSpPr>
            <a:cxnSpLocks/>
            <a:stCxn id="11" idx="1"/>
            <a:endCxn id="9" idx="2"/>
          </p:cNvCxnSpPr>
          <p:nvPr/>
        </p:nvCxnSpPr>
        <p:spPr>
          <a:xfrm flipH="1" flipV="1">
            <a:off x="1750060" y="2485074"/>
            <a:ext cx="416560" cy="583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B19896-5E54-C476-16FF-3D71EB298C14}"/>
              </a:ext>
            </a:extLst>
          </p:cNvPr>
          <p:cNvCxnSpPr>
            <a:cxnSpLocks/>
          </p:cNvCxnSpPr>
          <p:nvPr/>
        </p:nvCxnSpPr>
        <p:spPr>
          <a:xfrm flipH="1">
            <a:off x="2999740" y="2485074"/>
            <a:ext cx="321310" cy="474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5D16638F-5210-2694-11F4-A42DE97A1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4410" y="1600866"/>
            <a:ext cx="4603750" cy="2788254"/>
          </a:xfrm>
        </p:spPr>
        <p:txBody>
          <a:bodyPr>
            <a:noAutofit/>
          </a:bodyPr>
          <a:lstStyle/>
          <a:p>
            <a:r>
              <a:rPr lang="en-US" sz="1800" dirty="0"/>
              <a:t>For this trial, the percent error did increase once P was being estimated which is what we expected </a:t>
            </a:r>
          </a:p>
          <a:p>
            <a:r>
              <a:rPr lang="en-US" sz="1800" dirty="0">
                <a:solidFill>
                  <a:srgbClr val="000000"/>
                </a:solidFill>
              </a:rPr>
              <a:t>The estimated for the run with a constant B gave production rate and weight outputs that were significantly different than what was expected 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</a:rPr>
              <a:t>The runs where there were no constants gave better outputs which has not been true for previous trials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F0C2F5-BC54-1D46-9C3C-2D3BFD601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752" y="1576864"/>
            <a:ext cx="2453640" cy="9753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C151CE-2643-5A9E-F263-FA4A98C44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192" y="2773526"/>
            <a:ext cx="2270760" cy="9753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3943ED-A426-23B8-AA96-09137215A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815" y="4305777"/>
            <a:ext cx="8040369" cy="178933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EDBB8F-D64B-9122-5FDF-D29FA8A77847}"/>
              </a:ext>
            </a:extLst>
          </p:cNvPr>
          <p:cNvCxnSpPr>
            <a:cxnSpLocks/>
          </p:cNvCxnSpPr>
          <p:nvPr/>
        </p:nvCxnSpPr>
        <p:spPr>
          <a:xfrm flipV="1">
            <a:off x="2999740" y="2476978"/>
            <a:ext cx="536892" cy="784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614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B643-8C1B-59F0-2A19-0DB07741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Trial 9 – output inconsistent between runs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FA032F-F339-036B-8AAA-868A554BEDA6}"/>
              </a:ext>
            </a:extLst>
          </p:cNvPr>
          <p:cNvSpPr/>
          <p:nvPr/>
        </p:nvSpPr>
        <p:spPr>
          <a:xfrm>
            <a:off x="2166620" y="2804481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A28950-9D82-C7B5-74E2-EA8E70A92FFD}"/>
              </a:ext>
            </a:extLst>
          </p:cNvPr>
          <p:cNvSpPr/>
          <p:nvPr/>
        </p:nvSpPr>
        <p:spPr>
          <a:xfrm>
            <a:off x="1333500" y="1956754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B9721E-6277-3E29-2D9B-ECF65B739552}"/>
              </a:ext>
            </a:extLst>
          </p:cNvPr>
          <p:cNvSpPr/>
          <p:nvPr/>
        </p:nvSpPr>
        <p:spPr>
          <a:xfrm>
            <a:off x="2999740" y="1948658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gene2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DF054D09-95D5-36C1-A189-EFE59B777E44}"/>
              </a:ext>
            </a:extLst>
          </p:cNvPr>
          <p:cNvCxnSpPr>
            <a:cxnSpLocks/>
            <a:stCxn id="9" idx="1"/>
            <a:endCxn id="9" idx="0"/>
          </p:cNvCxnSpPr>
          <p:nvPr/>
        </p:nvCxnSpPr>
        <p:spPr>
          <a:xfrm rot="10800000" flipH="1">
            <a:off x="1333500" y="1956754"/>
            <a:ext cx="416560" cy="264160"/>
          </a:xfrm>
          <a:prstGeom prst="curvedConnector4">
            <a:avLst>
              <a:gd name="adj1" fmla="val -54878"/>
              <a:gd name="adj2" fmla="val 2326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D4E3E9-3216-78AD-4618-F68B1DAA25CB}"/>
              </a:ext>
            </a:extLst>
          </p:cNvPr>
          <p:cNvCxnSpPr>
            <a:cxnSpLocks/>
            <a:stCxn id="11" idx="1"/>
            <a:endCxn id="9" idx="2"/>
          </p:cNvCxnSpPr>
          <p:nvPr/>
        </p:nvCxnSpPr>
        <p:spPr>
          <a:xfrm flipH="1" flipV="1">
            <a:off x="1750060" y="2485074"/>
            <a:ext cx="416560" cy="583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5D16638F-5210-2694-11F4-A42DE97A1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4410" y="1600866"/>
            <a:ext cx="4603750" cy="2788254"/>
          </a:xfrm>
        </p:spPr>
        <p:txBody>
          <a:bodyPr>
            <a:noAutofit/>
          </a:bodyPr>
          <a:lstStyle/>
          <a:p>
            <a:r>
              <a:rPr lang="en-US" sz="1800" dirty="0"/>
              <a:t>For this trial, the percent error did increase once P was being estimated which is what we expected </a:t>
            </a:r>
          </a:p>
          <a:p>
            <a:r>
              <a:rPr lang="en-US" sz="1800" dirty="0">
                <a:solidFill>
                  <a:srgbClr val="000000"/>
                </a:solidFill>
              </a:rPr>
              <a:t>Between the output got P and B constant and just P constant, the estimated weights for the latter were closer to the expected weights </a:t>
            </a:r>
          </a:p>
          <a:p>
            <a:r>
              <a:rPr lang="en-US" sz="1800" dirty="0">
                <a:solidFill>
                  <a:srgbClr val="000000"/>
                </a:solidFill>
              </a:rPr>
              <a:t>Between the output for B constant and no constants, the estimated weights for the latter were closer to the expected weights </a:t>
            </a:r>
          </a:p>
          <a:p>
            <a:endParaRPr lang="en-US" sz="1800" dirty="0">
              <a:solidFill>
                <a:srgbClr val="00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EDBB8F-D64B-9122-5FDF-D29FA8A77847}"/>
              </a:ext>
            </a:extLst>
          </p:cNvPr>
          <p:cNvCxnSpPr>
            <a:cxnSpLocks/>
            <a:stCxn id="11" idx="3"/>
            <a:endCxn id="10" idx="2"/>
          </p:cNvCxnSpPr>
          <p:nvPr/>
        </p:nvCxnSpPr>
        <p:spPr>
          <a:xfrm flipV="1">
            <a:off x="2999740" y="2476978"/>
            <a:ext cx="416560" cy="591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5DF4328-18EC-9996-E43A-C1E9E35B6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815" y="1596153"/>
            <a:ext cx="2453640" cy="975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AECF5C-CDC2-6B16-C6F0-9F93D44F1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255" y="2735259"/>
            <a:ext cx="2270760" cy="9753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8681A6-78A8-DFB1-780A-AE2CCF471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815" y="4446594"/>
            <a:ext cx="8040369" cy="1789331"/>
          </a:xfrm>
          <a:prstGeom prst="rect">
            <a:avLst/>
          </a:prstGeom>
        </p:spPr>
      </p:pic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D815FBAC-DD6B-5F3C-EFE0-7B9D31D3EB86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2166620" y="3174050"/>
            <a:ext cx="416560" cy="158751"/>
          </a:xfrm>
          <a:prstGeom prst="curvedConnector4">
            <a:avLst>
              <a:gd name="adj1" fmla="val -45122"/>
              <a:gd name="adj2" fmla="val 32719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213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B643-8C1B-59F0-2A19-0DB07741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Trial 5 – output inconsistent for all runs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FA032F-F339-036B-8AAA-868A554BEDA6}"/>
              </a:ext>
            </a:extLst>
          </p:cNvPr>
          <p:cNvSpPr/>
          <p:nvPr/>
        </p:nvSpPr>
        <p:spPr>
          <a:xfrm>
            <a:off x="2166620" y="2804481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A28950-9D82-C7B5-74E2-EA8E70A92FFD}"/>
              </a:ext>
            </a:extLst>
          </p:cNvPr>
          <p:cNvSpPr/>
          <p:nvPr/>
        </p:nvSpPr>
        <p:spPr>
          <a:xfrm>
            <a:off x="1333500" y="1956754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B9721E-6277-3E29-2D9B-ECF65B739552}"/>
              </a:ext>
            </a:extLst>
          </p:cNvPr>
          <p:cNvSpPr/>
          <p:nvPr/>
        </p:nvSpPr>
        <p:spPr>
          <a:xfrm>
            <a:off x="2999740" y="1948658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gene2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DF054D09-95D5-36C1-A189-EFE59B777E44}"/>
              </a:ext>
            </a:extLst>
          </p:cNvPr>
          <p:cNvCxnSpPr>
            <a:cxnSpLocks/>
            <a:stCxn id="9" idx="1"/>
            <a:endCxn id="9" idx="0"/>
          </p:cNvCxnSpPr>
          <p:nvPr/>
        </p:nvCxnSpPr>
        <p:spPr>
          <a:xfrm rot="10800000" flipH="1">
            <a:off x="1333500" y="1956754"/>
            <a:ext cx="416560" cy="264160"/>
          </a:xfrm>
          <a:prstGeom prst="curvedConnector4">
            <a:avLst>
              <a:gd name="adj1" fmla="val -54878"/>
              <a:gd name="adj2" fmla="val 2326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D4E3E9-3216-78AD-4618-F68B1DAA25CB}"/>
              </a:ext>
            </a:extLst>
          </p:cNvPr>
          <p:cNvCxnSpPr>
            <a:cxnSpLocks/>
            <a:stCxn id="9" idx="2"/>
            <a:endCxn id="11" idx="1"/>
          </p:cNvCxnSpPr>
          <p:nvPr/>
        </p:nvCxnSpPr>
        <p:spPr>
          <a:xfrm>
            <a:off x="1750060" y="2485074"/>
            <a:ext cx="416560" cy="583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B19896-5E54-C476-16FF-3D71EB298C14}"/>
              </a:ext>
            </a:extLst>
          </p:cNvPr>
          <p:cNvCxnSpPr/>
          <p:nvPr/>
        </p:nvCxnSpPr>
        <p:spPr>
          <a:xfrm flipH="1">
            <a:off x="2166620" y="2220914"/>
            <a:ext cx="833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5D16638F-5210-2694-11F4-A42DE97A1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4410" y="1600866"/>
            <a:ext cx="4603750" cy="2788254"/>
          </a:xfrm>
        </p:spPr>
        <p:txBody>
          <a:bodyPr>
            <a:noAutofit/>
          </a:bodyPr>
          <a:lstStyle/>
          <a:p>
            <a:r>
              <a:rPr lang="en-US" sz="2000" dirty="0"/>
              <a:t>For this trial, the percent error did increase once P was being estimated which is what we expected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The estimates for all of the runs of this network were very different than the expected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BC06CD-9ADC-3526-22D0-55021B2C2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560" y="1574645"/>
            <a:ext cx="2453640" cy="9296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00535B-F0D7-4DB0-FB23-739601DFF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2804481"/>
            <a:ext cx="2270760" cy="929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DC0C84-1A6E-4AEA-44DE-C275D6C4E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815" y="4611369"/>
            <a:ext cx="8040369" cy="1696378"/>
          </a:xfrm>
          <a:prstGeom prst="rect">
            <a:avLst/>
          </a:prstGeom>
        </p:spPr>
      </p:pic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B46804B7-E770-8EA7-5771-8214A7FDF682}"/>
              </a:ext>
            </a:extLst>
          </p:cNvPr>
          <p:cNvCxnSpPr>
            <a:cxnSpLocks/>
          </p:cNvCxnSpPr>
          <p:nvPr/>
        </p:nvCxnSpPr>
        <p:spPr>
          <a:xfrm rot="10800000">
            <a:off x="3432175" y="1957704"/>
            <a:ext cx="416560" cy="288927"/>
          </a:xfrm>
          <a:prstGeom prst="curvedConnector4">
            <a:avLst>
              <a:gd name="adj1" fmla="val -40244"/>
              <a:gd name="adj2" fmla="val 2002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38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B643-8C1B-59F0-2A19-0DB07741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Trial 6 – output inconsistent for all runs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FA032F-F339-036B-8AAA-868A554BEDA6}"/>
              </a:ext>
            </a:extLst>
          </p:cNvPr>
          <p:cNvSpPr/>
          <p:nvPr/>
        </p:nvSpPr>
        <p:spPr>
          <a:xfrm>
            <a:off x="2166620" y="2804481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A28950-9D82-C7B5-74E2-EA8E70A92FFD}"/>
              </a:ext>
            </a:extLst>
          </p:cNvPr>
          <p:cNvSpPr/>
          <p:nvPr/>
        </p:nvSpPr>
        <p:spPr>
          <a:xfrm>
            <a:off x="1333500" y="1956754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B9721E-6277-3E29-2D9B-ECF65B739552}"/>
              </a:ext>
            </a:extLst>
          </p:cNvPr>
          <p:cNvSpPr/>
          <p:nvPr/>
        </p:nvSpPr>
        <p:spPr>
          <a:xfrm>
            <a:off x="2999740" y="1948658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gene2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DF054D09-95D5-36C1-A189-EFE59B777E44}"/>
              </a:ext>
            </a:extLst>
          </p:cNvPr>
          <p:cNvCxnSpPr>
            <a:cxnSpLocks/>
            <a:stCxn id="9" idx="1"/>
            <a:endCxn id="9" idx="0"/>
          </p:cNvCxnSpPr>
          <p:nvPr/>
        </p:nvCxnSpPr>
        <p:spPr>
          <a:xfrm rot="10800000" flipH="1">
            <a:off x="1333500" y="1956754"/>
            <a:ext cx="416560" cy="264160"/>
          </a:xfrm>
          <a:prstGeom prst="curvedConnector4">
            <a:avLst>
              <a:gd name="adj1" fmla="val -54878"/>
              <a:gd name="adj2" fmla="val 2326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D4E3E9-3216-78AD-4618-F68B1DAA25CB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2999740" y="2476978"/>
            <a:ext cx="416560" cy="591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B19896-5E54-C476-16FF-3D71EB298C14}"/>
              </a:ext>
            </a:extLst>
          </p:cNvPr>
          <p:cNvCxnSpPr/>
          <p:nvPr/>
        </p:nvCxnSpPr>
        <p:spPr>
          <a:xfrm flipH="1">
            <a:off x="2166620" y="2220914"/>
            <a:ext cx="833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5D16638F-5210-2694-11F4-A42DE97A1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4410" y="1600866"/>
            <a:ext cx="4603750" cy="2788254"/>
          </a:xfrm>
        </p:spPr>
        <p:txBody>
          <a:bodyPr>
            <a:noAutofit/>
          </a:bodyPr>
          <a:lstStyle/>
          <a:p>
            <a:r>
              <a:rPr lang="en-US" sz="1600" dirty="0"/>
              <a:t>The run where B was held constant was the most accurate </a:t>
            </a:r>
          </a:p>
          <a:p>
            <a:r>
              <a:rPr lang="en-US" sz="1600" dirty="0">
                <a:solidFill>
                  <a:srgbClr val="000000"/>
                </a:solidFill>
              </a:rPr>
              <a:t>The run where P was held constant took 26,801,500 iterations to complete and over 24 hours 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</a:rPr>
              <a:t>I waited 2 hours for the P and B constant run, and it didn’t finish so I was not able to complete that one </a:t>
            </a:r>
          </a:p>
          <a:p>
            <a:r>
              <a:rPr lang="en-US" sz="1600" dirty="0">
                <a:solidFill>
                  <a:srgbClr val="000000"/>
                </a:solidFill>
              </a:rPr>
              <a:t>All the optimization parameters were the same as the other runs and the B constant and no constant runs had no problems, so I really don’t know what was going on for this one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B46804B7-E770-8EA7-5771-8214A7FDF682}"/>
              </a:ext>
            </a:extLst>
          </p:cNvPr>
          <p:cNvCxnSpPr>
            <a:cxnSpLocks/>
          </p:cNvCxnSpPr>
          <p:nvPr/>
        </p:nvCxnSpPr>
        <p:spPr>
          <a:xfrm rot="10800000">
            <a:off x="3432175" y="1957704"/>
            <a:ext cx="416560" cy="288927"/>
          </a:xfrm>
          <a:prstGeom prst="curvedConnector4">
            <a:avLst>
              <a:gd name="adj1" fmla="val -40244"/>
              <a:gd name="adj2" fmla="val 2002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774DACC-4C68-0401-F48D-BF7C649C0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294" y="1600866"/>
            <a:ext cx="2453640" cy="9753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0756C1B-7499-3F85-46E5-FE89A0782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734" y="2750471"/>
            <a:ext cx="2270760" cy="9753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D5BD3B-8403-8A16-0345-2CBF24170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765" y="4563365"/>
            <a:ext cx="7570470" cy="168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576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B643-8C1B-59F0-2A19-0DB07741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4 gene 5 edge network – trial 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FA032F-F339-036B-8AAA-868A554BEDA6}"/>
              </a:ext>
            </a:extLst>
          </p:cNvPr>
          <p:cNvSpPr/>
          <p:nvPr/>
        </p:nvSpPr>
        <p:spPr>
          <a:xfrm>
            <a:off x="3059748" y="2955929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A28950-9D82-C7B5-74E2-EA8E70A92FFD}"/>
              </a:ext>
            </a:extLst>
          </p:cNvPr>
          <p:cNvSpPr/>
          <p:nvPr/>
        </p:nvSpPr>
        <p:spPr>
          <a:xfrm>
            <a:off x="3059748" y="1956754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B9721E-6277-3E29-2D9B-ECF65B739552}"/>
              </a:ext>
            </a:extLst>
          </p:cNvPr>
          <p:cNvSpPr/>
          <p:nvPr/>
        </p:nvSpPr>
        <p:spPr>
          <a:xfrm>
            <a:off x="4725988" y="1948658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EDEAE8-868B-AF4C-7347-62791364C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2453640" cy="12039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7D8D07-F8AE-0834-E618-68DD4436D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140" y="3016251"/>
            <a:ext cx="2499360" cy="12039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6B920-03BB-F65B-62E0-084905F2F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145" y="4510723"/>
            <a:ext cx="8327709" cy="2084791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8A495B-2828-8878-0269-D991F3B21D07}"/>
              </a:ext>
            </a:extLst>
          </p:cNvPr>
          <p:cNvSpPr/>
          <p:nvPr/>
        </p:nvSpPr>
        <p:spPr>
          <a:xfrm>
            <a:off x="4741862" y="2952592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gene4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C549C1-194F-2DD3-599C-B2806BBE11E2}"/>
              </a:ext>
            </a:extLst>
          </p:cNvPr>
          <p:cNvCxnSpPr>
            <a:cxnSpLocks/>
          </p:cNvCxnSpPr>
          <p:nvPr/>
        </p:nvCxnSpPr>
        <p:spPr>
          <a:xfrm flipV="1">
            <a:off x="3905251" y="2304653"/>
            <a:ext cx="833120" cy="8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629F30-C291-C7CE-CFA4-668ED2DE0CFC}"/>
              </a:ext>
            </a:extLst>
          </p:cNvPr>
          <p:cNvCxnSpPr>
            <a:cxnSpLocks/>
          </p:cNvCxnSpPr>
          <p:nvPr/>
        </p:nvCxnSpPr>
        <p:spPr>
          <a:xfrm>
            <a:off x="3313748" y="2476978"/>
            <a:ext cx="0" cy="470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B2E444B-A1CA-63B2-E646-6C235B61C6FE}"/>
              </a:ext>
            </a:extLst>
          </p:cNvPr>
          <p:cNvCxnSpPr>
            <a:cxnSpLocks/>
          </p:cNvCxnSpPr>
          <p:nvPr/>
        </p:nvCxnSpPr>
        <p:spPr>
          <a:xfrm flipH="1">
            <a:off x="3880485" y="2136376"/>
            <a:ext cx="833120" cy="8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0876AF7-6EBD-CF26-BA86-55B63A892E4C}"/>
              </a:ext>
            </a:extLst>
          </p:cNvPr>
          <p:cNvCxnSpPr>
            <a:cxnSpLocks/>
          </p:cNvCxnSpPr>
          <p:nvPr/>
        </p:nvCxnSpPr>
        <p:spPr>
          <a:xfrm flipV="1">
            <a:off x="3476308" y="2485074"/>
            <a:ext cx="0" cy="470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79C652C9-767B-321B-6594-ED5F7CB6F557}"/>
              </a:ext>
            </a:extLst>
          </p:cNvPr>
          <p:cNvCxnSpPr>
            <a:cxnSpLocks/>
          </p:cNvCxnSpPr>
          <p:nvPr/>
        </p:nvCxnSpPr>
        <p:spPr>
          <a:xfrm rot="10800000">
            <a:off x="3649347" y="2493171"/>
            <a:ext cx="1089024" cy="597775"/>
          </a:xfrm>
          <a:prstGeom prst="curvedConnector3">
            <a:avLst>
              <a:gd name="adj1" fmla="val 1003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381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B643-8C1B-59F0-2A19-0DB07741A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329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4 gene 5 edge network – trial 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FA032F-F339-036B-8AAA-868A554BEDA6}"/>
              </a:ext>
            </a:extLst>
          </p:cNvPr>
          <p:cNvSpPr/>
          <p:nvPr/>
        </p:nvSpPr>
        <p:spPr>
          <a:xfrm>
            <a:off x="3144201" y="2966482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A28950-9D82-C7B5-74E2-EA8E70A92FFD}"/>
              </a:ext>
            </a:extLst>
          </p:cNvPr>
          <p:cNvSpPr/>
          <p:nvPr/>
        </p:nvSpPr>
        <p:spPr>
          <a:xfrm>
            <a:off x="3144201" y="1790224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B9721E-6277-3E29-2D9B-ECF65B739552}"/>
              </a:ext>
            </a:extLst>
          </p:cNvPr>
          <p:cNvSpPr/>
          <p:nvPr/>
        </p:nvSpPr>
        <p:spPr>
          <a:xfrm>
            <a:off x="4794567" y="1790225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8A495B-2828-8878-0269-D991F3B21D07}"/>
              </a:ext>
            </a:extLst>
          </p:cNvPr>
          <p:cNvSpPr/>
          <p:nvPr/>
        </p:nvSpPr>
        <p:spPr>
          <a:xfrm>
            <a:off x="4810441" y="2966484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gene4</a:t>
            </a: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79C652C9-767B-321B-6594-ED5F7CB6F557}"/>
              </a:ext>
            </a:extLst>
          </p:cNvPr>
          <p:cNvCxnSpPr>
            <a:cxnSpLocks/>
            <a:stCxn id="9" idx="2"/>
            <a:endCxn id="17" idx="1"/>
          </p:cNvCxnSpPr>
          <p:nvPr/>
        </p:nvCxnSpPr>
        <p:spPr>
          <a:xfrm rot="16200000" flipH="1">
            <a:off x="3729551" y="2149754"/>
            <a:ext cx="912100" cy="124968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ADF090C-AD21-01E1-9B67-277620F66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719" y="1701803"/>
            <a:ext cx="2453640" cy="12039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E426BC-7A77-1B51-94FB-819669D95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008885"/>
            <a:ext cx="2545080" cy="12039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A8DFCE-39FB-4899-422F-ADAB3C6AD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145" y="4405313"/>
            <a:ext cx="8327709" cy="2107701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CE6CFB9-2529-1359-0E5D-21F8C0995CB3}"/>
              </a:ext>
            </a:extLst>
          </p:cNvPr>
          <p:cNvCxnSpPr>
            <a:stCxn id="10" idx="1"/>
            <a:endCxn id="9" idx="3"/>
          </p:cNvCxnSpPr>
          <p:nvPr/>
        </p:nvCxnSpPr>
        <p:spPr>
          <a:xfrm flipH="1" flipV="1">
            <a:off x="3977321" y="2054384"/>
            <a:ext cx="81724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442391C-6BD1-9458-3564-F7869B76C5A1}"/>
              </a:ext>
            </a:extLst>
          </p:cNvPr>
          <p:cNvCxnSpPr>
            <a:cxnSpLocks/>
          </p:cNvCxnSpPr>
          <p:nvPr/>
        </p:nvCxnSpPr>
        <p:spPr>
          <a:xfrm>
            <a:off x="3969384" y="3362720"/>
            <a:ext cx="83312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AF429A4B-33AB-02A2-392B-B0F894541679}"/>
              </a:ext>
            </a:extLst>
          </p:cNvPr>
          <p:cNvCxnSpPr>
            <a:cxnSpLocks/>
            <a:stCxn id="10" idx="1"/>
            <a:endCxn id="11" idx="0"/>
          </p:cNvCxnSpPr>
          <p:nvPr/>
        </p:nvCxnSpPr>
        <p:spPr>
          <a:xfrm rot="10800000" flipV="1">
            <a:off x="3560761" y="2054384"/>
            <a:ext cx="1233806" cy="91209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025BB8C-0F47-F3F4-60D6-04BC918CF7D3}"/>
              </a:ext>
            </a:extLst>
          </p:cNvPr>
          <p:cNvCxnSpPr>
            <a:stCxn id="17" idx="0"/>
            <a:endCxn id="10" idx="2"/>
          </p:cNvCxnSpPr>
          <p:nvPr/>
        </p:nvCxnSpPr>
        <p:spPr>
          <a:xfrm flipH="1" flipV="1">
            <a:off x="5211127" y="2318545"/>
            <a:ext cx="15874" cy="6479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60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B643-8C1B-59F0-2A19-0DB07741A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36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4 gene 5 edge network – trial 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FA032F-F339-036B-8AAA-868A554BEDA6}"/>
              </a:ext>
            </a:extLst>
          </p:cNvPr>
          <p:cNvSpPr/>
          <p:nvPr/>
        </p:nvSpPr>
        <p:spPr>
          <a:xfrm>
            <a:off x="3072131" y="3190920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A28950-9D82-C7B5-74E2-EA8E70A92FFD}"/>
              </a:ext>
            </a:extLst>
          </p:cNvPr>
          <p:cNvSpPr/>
          <p:nvPr/>
        </p:nvSpPr>
        <p:spPr>
          <a:xfrm>
            <a:off x="3059748" y="2001230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B9721E-6277-3E29-2D9B-ECF65B739552}"/>
              </a:ext>
            </a:extLst>
          </p:cNvPr>
          <p:cNvSpPr/>
          <p:nvPr/>
        </p:nvSpPr>
        <p:spPr>
          <a:xfrm>
            <a:off x="4725988" y="1993134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8A495B-2828-8878-0269-D991F3B21D07}"/>
              </a:ext>
            </a:extLst>
          </p:cNvPr>
          <p:cNvSpPr/>
          <p:nvPr/>
        </p:nvSpPr>
        <p:spPr>
          <a:xfrm>
            <a:off x="4741862" y="3150182"/>
            <a:ext cx="833120" cy="5283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gene4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C549C1-194F-2DD3-599C-B2806BBE11E2}"/>
              </a:ext>
            </a:extLst>
          </p:cNvPr>
          <p:cNvCxnSpPr>
            <a:cxnSpLocks/>
          </p:cNvCxnSpPr>
          <p:nvPr/>
        </p:nvCxnSpPr>
        <p:spPr>
          <a:xfrm flipV="1">
            <a:off x="3905251" y="2265390"/>
            <a:ext cx="833120" cy="8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C38C6AF-41B1-76C2-28AB-C2FDE9DB7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11511"/>
            <a:ext cx="2453640" cy="12039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61B6E6-91BB-47BA-6A84-2F4DEC540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280" y="3037074"/>
            <a:ext cx="2545080" cy="12039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326525-79D3-056C-D30B-188F4E93A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146" y="4444617"/>
            <a:ext cx="8327708" cy="2107701"/>
          </a:xfrm>
          <a:prstGeom prst="rect">
            <a:avLst/>
          </a:prstGeom>
        </p:spPr>
      </p:pic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884FE75-0228-66F8-8752-A4080B1DF89C}"/>
              </a:ext>
            </a:extLst>
          </p:cNvPr>
          <p:cNvCxnSpPr>
            <a:cxnSpLocks/>
          </p:cNvCxnSpPr>
          <p:nvPr/>
        </p:nvCxnSpPr>
        <p:spPr>
          <a:xfrm rot="10800000" flipH="1">
            <a:off x="3059748" y="2001230"/>
            <a:ext cx="416560" cy="264160"/>
          </a:xfrm>
          <a:prstGeom prst="curvedConnector4">
            <a:avLst>
              <a:gd name="adj1" fmla="val -54878"/>
              <a:gd name="adj2" fmla="val 2326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3A7F46-693A-1CB0-D93D-C32164A6083C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3476308" y="2529550"/>
            <a:ext cx="12383" cy="661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4D2F493E-75AE-C775-8891-038ECB255164}"/>
              </a:ext>
            </a:extLst>
          </p:cNvPr>
          <p:cNvCxnSpPr>
            <a:stCxn id="9" idx="2"/>
            <a:endCxn id="17" idx="1"/>
          </p:cNvCxnSpPr>
          <p:nvPr/>
        </p:nvCxnSpPr>
        <p:spPr>
          <a:xfrm rot="16200000" flipH="1">
            <a:off x="3666689" y="2339169"/>
            <a:ext cx="884792" cy="126555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D8E04F7D-2BED-DDD3-F2D5-5D3EE5F3AB0C}"/>
              </a:ext>
            </a:extLst>
          </p:cNvPr>
          <p:cNvCxnSpPr>
            <a:cxnSpLocks/>
            <a:stCxn id="17" idx="2"/>
            <a:endCxn id="17" idx="3"/>
          </p:cNvCxnSpPr>
          <p:nvPr/>
        </p:nvCxnSpPr>
        <p:spPr>
          <a:xfrm rot="5400000" flipH="1" flipV="1">
            <a:off x="5234622" y="3338142"/>
            <a:ext cx="264160" cy="416560"/>
          </a:xfrm>
          <a:prstGeom prst="curvedConnector4">
            <a:avLst>
              <a:gd name="adj1" fmla="val -140384"/>
              <a:gd name="adj2" fmla="val 16707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765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0f1269-45c1-4463-99ba-5dc4e57c7df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B5B7ED115EF04980BBFAFC51672553" ma:contentTypeVersion="9" ma:contentTypeDescription="Create a new document." ma:contentTypeScope="" ma:versionID="43a679fe5cbd3b1dc01cea5b3bb6a16a">
  <xsd:schema xmlns:xsd="http://www.w3.org/2001/XMLSchema" xmlns:xs="http://www.w3.org/2001/XMLSchema" xmlns:p="http://schemas.microsoft.com/office/2006/metadata/properties" xmlns:ns3="070f1269-45c1-4463-99ba-5dc4e57c7dff" xmlns:ns4="7bf50b4b-6300-445a-aea1-306a2291592c" targetNamespace="http://schemas.microsoft.com/office/2006/metadata/properties" ma:root="true" ma:fieldsID="b0963d0390b393dc53bf13ff5a8315f4" ns3:_="" ns4:_="">
    <xsd:import namespace="070f1269-45c1-4463-99ba-5dc4e57c7dff"/>
    <xsd:import namespace="7bf50b4b-6300-445a-aea1-306a2291592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f1269-45c1-4463-99ba-5dc4e57c7d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f50b4b-6300-445a-aea1-306a229159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538ED8-82E0-4959-B827-2C44A924DFC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39E7C5-E27D-4438-AEA3-CA076C5A50EC}">
  <ds:schemaRefs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7bf50b4b-6300-445a-aea1-306a2291592c"/>
    <ds:schemaRef ds:uri="070f1269-45c1-4463-99ba-5dc4e57c7dff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65D16A4-AA92-4208-819C-B58C9D8258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0f1269-45c1-4463-99ba-5dc4e57c7dff"/>
    <ds:schemaRef ds:uri="7bf50b4b-6300-445a-aea1-306a229159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560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Aptos Narrow</vt:lpstr>
      <vt:lpstr>Arial</vt:lpstr>
      <vt:lpstr>Office Theme</vt:lpstr>
      <vt:lpstr>Summer 2024 wrap up</vt:lpstr>
      <vt:lpstr>3 gene 4 node toy network overview</vt:lpstr>
      <vt:lpstr>Trial 7 – output follows expected trends </vt:lpstr>
      <vt:lpstr>Trial 4 – output generally follows expected trends </vt:lpstr>
      <vt:lpstr>Trial 8 – output inconsistent for constant B run</vt:lpstr>
      <vt:lpstr>Trial 9 – output inconsistent between runs</vt:lpstr>
      <vt:lpstr>Trial 5 – output inconsistent for all runs</vt:lpstr>
      <vt:lpstr>Trial 6 – output inconsistent for all runs</vt:lpstr>
      <vt:lpstr>4 gene 5 edge network – trial 1</vt:lpstr>
      <vt:lpstr>4 gene 5 edge network – trial 2</vt:lpstr>
      <vt:lpstr>4 gene 5 edge network – trial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Chun, Nikki</dc:creator>
  <cp:lastModifiedBy>Chun, Nikki</cp:lastModifiedBy>
  <cp:revision>2</cp:revision>
  <dcterms:created xsi:type="dcterms:W3CDTF">2024-07-12T21:02:20Z</dcterms:created>
  <dcterms:modified xsi:type="dcterms:W3CDTF">2025-11-04T22:26:28Z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0x0101008DB5B7ED115EF04980BBFAFC51672553</vt:lpwstr>
  </property>
</Properties>
</file>