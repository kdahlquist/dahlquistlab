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4"/>
  </p:sldMasterIdLst>
  <p:notesMasterIdLst>
    <p:notesMasterId r:id="rId9"/>
  </p:notesMasterIdLst>
  <p:handoutMasterIdLst>
    <p:handoutMasterId r:id="rId10"/>
  </p:handoutMasterIdLst>
  <p:sldIdLst>
    <p:sldId id="256" r:id="rId5"/>
    <p:sldId id="282" r:id="rId6"/>
    <p:sldId id="283" r:id="rId7"/>
    <p:sldId id="28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8" userDrawn="1">
          <p15:clr>
            <a:srgbClr val="A4A3A4"/>
          </p15:clr>
        </p15:guide>
        <p15:guide id="2" pos="7080" userDrawn="1">
          <p15:clr>
            <a:srgbClr val="A4A3A4"/>
          </p15:clr>
        </p15:guide>
        <p15:guide id="3" pos="51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17F538-D894-41DA-AD32-FC72AAFAD65F}" v="10" dt="2024-04-24T02:14:24.8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432" autoAdjust="0"/>
  </p:normalViewPr>
  <p:slideViewPr>
    <p:cSldViewPr snapToGrid="0">
      <p:cViewPr varScale="1">
        <p:scale>
          <a:sx n="46" d="100"/>
          <a:sy n="46" d="100"/>
        </p:scale>
        <p:origin x="58" y="518"/>
      </p:cViewPr>
      <p:guideLst>
        <p:guide orient="horz" pos="1848"/>
        <p:guide pos="7080"/>
        <p:guide pos="5112"/>
      </p:guideLst>
    </p:cSldViewPr>
  </p:slideViewPr>
  <p:outlineViewPr>
    <p:cViewPr>
      <p:scale>
        <a:sx n="33" d="100"/>
        <a:sy n="33" d="100"/>
      </p:scale>
      <p:origin x="0" y="-481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84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n, Nikki" userId="23a9dea9-b5fb-4c75-a250-ed91f1fe31cc" providerId="ADAL" clId="{0F17F538-D894-41DA-AD32-FC72AAFAD65F}"/>
    <pc:docChg chg="undo custSel addSld modSld">
      <pc:chgData name="Chun, Nikki" userId="23a9dea9-b5fb-4c75-a250-ed91f1fe31cc" providerId="ADAL" clId="{0F17F538-D894-41DA-AD32-FC72AAFAD65F}" dt="2024-04-24T02:14:34.483" v="1856" actId="313"/>
      <pc:docMkLst>
        <pc:docMk/>
      </pc:docMkLst>
      <pc:sldChg chg="modSp mod">
        <pc:chgData name="Chun, Nikki" userId="23a9dea9-b5fb-4c75-a250-ed91f1fe31cc" providerId="ADAL" clId="{0F17F538-D894-41DA-AD32-FC72AAFAD65F}" dt="2024-04-24T02:00:02.685" v="129"/>
        <pc:sldMkLst>
          <pc:docMk/>
          <pc:sldMk cId="523189724" sldId="282"/>
        </pc:sldMkLst>
        <pc:spChg chg="mod">
          <ac:chgData name="Chun, Nikki" userId="23a9dea9-b5fb-4c75-a250-ed91f1fe31cc" providerId="ADAL" clId="{0F17F538-D894-41DA-AD32-FC72AAFAD65F}" dt="2024-04-24T02:00:02.685" v="129"/>
          <ac:spMkLst>
            <pc:docMk/>
            <pc:sldMk cId="523189724" sldId="282"/>
            <ac:spMk id="5" creationId="{BDB9D020-1E25-453D-83DF-1420ACD3968D}"/>
          </ac:spMkLst>
        </pc:spChg>
      </pc:sldChg>
      <pc:sldChg chg="modSp add mod">
        <pc:chgData name="Chun, Nikki" userId="23a9dea9-b5fb-4c75-a250-ed91f1fe31cc" providerId="ADAL" clId="{0F17F538-D894-41DA-AD32-FC72AAFAD65F}" dt="2024-04-24T02:06:58.491" v="894" actId="20577"/>
        <pc:sldMkLst>
          <pc:docMk/>
          <pc:sldMk cId="2094707527" sldId="283"/>
        </pc:sldMkLst>
        <pc:spChg chg="mod">
          <ac:chgData name="Chun, Nikki" userId="23a9dea9-b5fb-4c75-a250-ed91f1fe31cc" providerId="ADAL" clId="{0F17F538-D894-41DA-AD32-FC72AAFAD65F}" dt="2024-04-24T02:00:26.850" v="174" actId="20577"/>
          <ac:spMkLst>
            <pc:docMk/>
            <pc:sldMk cId="2094707527" sldId="283"/>
            <ac:spMk id="2" creationId="{19256B7E-1633-44AB-8584-82DF5B726834}"/>
          </ac:spMkLst>
        </pc:spChg>
        <pc:spChg chg="mod">
          <ac:chgData name="Chun, Nikki" userId="23a9dea9-b5fb-4c75-a250-ed91f1fe31cc" providerId="ADAL" clId="{0F17F538-D894-41DA-AD32-FC72AAFAD65F}" dt="2024-04-24T02:06:58.491" v="894" actId="20577"/>
          <ac:spMkLst>
            <pc:docMk/>
            <pc:sldMk cId="2094707527" sldId="283"/>
            <ac:spMk id="5" creationId="{BDB9D020-1E25-453D-83DF-1420ACD3968D}"/>
          </ac:spMkLst>
        </pc:spChg>
      </pc:sldChg>
      <pc:sldChg chg="modSp add mod modNotesTx">
        <pc:chgData name="Chun, Nikki" userId="23a9dea9-b5fb-4c75-a250-ed91f1fe31cc" providerId="ADAL" clId="{0F17F538-D894-41DA-AD32-FC72AAFAD65F}" dt="2024-04-24T02:14:34.483" v="1856" actId="313"/>
        <pc:sldMkLst>
          <pc:docMk/>
          <pc:sldMk cId="187180709" sldId="284"/>
        </pc:sldMkLst>
        <pc:spChg chg="mod">
          <ac:chgData name="Chun, Nikki" userId="23a9dea9-b5fb-4c75-a250-ed91f1fe31cc" providerId="ADAL" clId="{0F17F538-D894-41DA-AD32-FC72AAFAD65F}" dt="2024-04-24T02:07:31.124" v="915" actId="255"/>
          <ac:spMkLst>
            <pc:docMk/>
            <pc:sldMk cId="187180709" sldId="284"/>
            <ac:spMk id="2" creationId="{19256B7E-1633-44AB-8584-82DF5B726834}"/>
          </ac:spMkLst>
        </pc:spChg>
        <pc:spChg chg="mod">
          <ac:chgData name="Chun, Nikki" userId="23a9dea9-b5fb-4c75-a250-ed91f1fe31cc" providerId="ADAL" clId="{0F17F538-D894-41DA-AD32-FC72AAFAD65F}" dt="2024-04-24T02:14:34.483" v="1856" actId="313"/>
          <ac:spMkLst>
            <pc:docMk/>
            <pc:sldMk cId="187180709" sldId="284"/>
            <ac:spMk id="5" creationId="{BDB9D020-1E25-453D-83DF-1420ACD3968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0AE3C0-C0E9-40F8-963A-C710B0868C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B19749-4C26-46F6-A13E-4F2E91EC14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B2F5F-49ED-40E3-A1A5-941FF8279870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26E5B-3572-4EEA-91A0-FE0838ED61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D8116-DB0F-4C4A-85AD-5331C0D78B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B74FA-BCF5-412C-B474-5CA730E53D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6456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C1060-699B-414A-8D16-7630F8BDD05E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DF348-2A86-4531-BD4E-BD8C0BBDAD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76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</a:t>
            </a:r>
            <a:r>
              <a:rPr lang="en-US" dirty="0" err="1"/>
              <a:t>ps</a:t>
            </a:r>
            <a:r>
              <a:rPr lang="en-US" dirty="0"/>
              <a:t> and bs held constant, tolfun was able to estimate the values slightly closer</a:t>
            </a:r>
          </a:p>
          <a:p>
            <a:r>
              <a:rPr lang="en-US" dirty="0"/>
              <a:t>for small tolx and alpha, holding p's gave better estimate for weights</a:t>
            </a:r>
          </a:p>
          <a:p>
            <a:r>
              <a:rPr lang="en-US" dirty="0"/>
              <a:t>constant b and small </a:t>
            </a:r>
            <a:r>
              <a:rPr lang="en-US" dirty="0" err="1"/>
              <a:t>tolf</a:t>
            </a:r>
            <a:r>
              <a:rPr lang="en-US" dirty="0"/>
              <a:t> fun vs constant b and small tolx gave same output </a:t>
            </a:r>
          </a:p>
          <a:p>
            <a:r>
              <a:rPr lang="en-US" dirty="0"/>
              <a:t>constant p and small tolx more accurate than constant p and small tolfun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DF348-2A86-4531-BD4E-BD8C0BBDAD4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892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947BE1-D586-49AE-B2E6-EE426AA23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532914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C316E-D918-422D-AC5F-D93C59AB6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78" y="627016"/>
            <a:ext cx="6389027" cy="5601790"/>
          </a:xfrm>
        </p:spPr>
        <p:txBody>
          <a:bodyPr>
            <a:noAutofit/>
          </a:bodyPr>
          <a:lstStyle>
            <a:lvl1pPr algn="r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defRPr sz="8000" baseline="0"/>
            </a:lvl1pPr>
          </a:lstStyle>
          <a:p>
            <a:r>
              <a:rPr lang="en-US" dirty="0"/>
              <a:t>Click to edit Master TEXT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B4012DC-9879-489B-B525-C474C5DD29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9797" y="627016"/>
            <a:ext cx="3199034" cy="5590903"/>
          </a:xfrm>
        </p:spPr>
        <p:txBody>
          <a:bodyPr anchor="ctr">
            <a:normAutofit/>
          </a:bodyPr>
          <a:lstStyle>
            <a:lvl1pPr>
              <a:defRPr lang="en-US" sz="2600" kern="1200" spc="50" baseline="0" dirty="0" smtClean="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4051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D15A25-1111-478B-8F77-D992652C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264985"/>
            <a:ext cx="5297764" cy="39521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93472D-332A-4010-9FEA-8E1E9AE7E1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6213" y="336958"/>
            <a:ext cx="10616187" cy="1700784"/>
          </a:xfrm>
        </p:spPr>
        <p:txBody>
          <a:bodyPr/>
          <a:lstStyle>
            <a:lvl1pPr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FF791A-8D73-49AD-8569-7F4FE14648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60120" y="2587752"/>
            <a:ext cx="3694176" cy="3258102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cs typeface="Calibri"/>
              </a:rPr>
              <a:t>Click to edit master text style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9D1BED5-2D39-40ED-92F5-CF06BE8A75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97764" y="2265363"/>
            <a:ext cx="3479524" cy="39512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2FBE291-E88A-44C5-884C-183EE7F67E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77288" y="2265363"/>
            <a:ext cx="3414712" cy="39512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99AED-D702-41BF-B21E-9BFB06308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1" y="6356350"/>
            <a:ext cx="335326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4C4BB-67B0-4BF7-A7D4-4222652EDB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2C385-1FC3-453C-952E-8DDB1B05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907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984A150-581C-4608-9034-48767311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19D4B2-6593-465B-9A8E-03DFC94344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0438" y="317499"/>
            <a:ext cx="4500737" cy="2095501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 sz="5400" dirty="0"/>
              <a:t>Click to edit master text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309CC8E-0532-4674-9535-1514DA3C14B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60438" y="2587625"/>
            <a:ext cx="4500737" cy="35941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  <a:cs typeface="Calibri"/>
              </a:rPr>
              <a:t>Click to edit master text style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A468A676-C4AD-4F50-936D-1C858E8136CE}"/>
              </a:ext>
            </a:extLst>
          </p:cNvPr>
          <p:cNvSpPr txBox="1">
            <a:spLocks/>
          </p:cNvSpPr>
          <p:nvPr userDrawn="1"/>
        </p:nvSpPr>
        <p:spPr>
          <a:xfrm>
            <a:off x="960438" y="6356350"/>
            <a:ext cx="498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kern="1200" cap="all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37098-0CB9-40F0-99EE-35DF790670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4474" y="0"/>
            <a:ext cx="3046351" cy="342836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B54A389-080E-45CE-8275-215B7C9B58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763" y="0"/>
            <a:ext cx="3048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5006F58-5D95-4392-9D32-BE333EA549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2350" y="3429000"/>
            <a:ext cx="607695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73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384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236976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80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984A150-581C-4608-9034-48767311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57345" y="0"/>
            <a:ext cx="75346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19D4B2-6593-465B-9A8E-03DFC94344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5771" y="1004205"/>
            <a:ext cx="6096000" cy="3725183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en-US" sz="5400" dirty="0"/>
              <a:t>Click to edit master text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37098-0CB9-40F0-99EE-35DF790670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734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A468A676-C4AD-4F50-936D-1C858E8136CE}"/>
              </a:ext>
            </a:extLst>
          </p:cNvPr>
          <p:cNvSpPr txBox="1">
            <a:spLocks/>
          </p:cNvSpPr>
          <p:nvPr userDrawn="1"/>
        </p:nvSpPr>
        <p:spPr>
          <a:xfrm>
            <a:off x="960438" y="6356350"/>
            <a:ext cx="498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kern="1200" cap="all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309CC8E-0532-4674-9535-1514DA3C14B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5771" y="4865914"/>
            <a:ext cx="6096000" cy="532038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  <a:cs typeface="Calibri"/>
              </a:rPr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40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1DF4D9E-FD4F-4244-ACD6-44EC4C0494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66800" y="3048000"/>
            <a:ext cx="1790700" cy="1790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44F5B526-8975-4F7C-B558-830FCEE068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1762" y="3048000"/>
            <a:ext cx="1790700" cy="1790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ED20DBB5-D24E-40D6-AFFB-428692A51AD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76021" y="3048000"/>
            <a:ext cx="1790700" cy="1790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F6F7262C-3E29-4219-AF83-B7A71B97A13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34500" y="3048000"/>
            <a:ext cx="1790700" cy="17907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3861F78-BD42-4F29-8487-1641CFD039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6800" y="5124103"/>
            <a:ext cx="1790700" cy="350292"/>
          </a:xfrm>
        </p:spPr>
        <p:txBody>
          <a:bodyPr>
            <a:normAutofit/>
          </a:bodyPr>
          <a:lstStyle>
            <a:lvl1pPr algn="ctr"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FAB1F8B-1CEE-4068-86DE-561A12A0418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6800" y="5458421"/>
            <a:ext cx="1790700" cy="350292"/>
          </a:xfrm>
        </p:spPr>
        <p:txBody>
          <a:bodyPr>
            <a:noAutofit/>
          </a:bodyPr>
          <a:lstStyle>
            <a:lvl1pPr algn="ctr"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D5AE44CD-B78E-4EE2-B0F2-E0D436C2BA1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1762" y="5124103"/>
            <a:ext cx="1790700" cy="350292"/>
          </a:xfrm>
        </p:spPr>
        <p:txBody>
          <a:bodyPr>
            <a:normAutofit/>
          </a:bodyPr>
          <a:lstStyle>
            <a:lvl1pPr algn="ctr"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3C4FE2DB-091F-4F7A-B6B6-9A6F22AC0B5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21762" y="5458421"/>
            <a:ext cx="1790700" cy="350292"/>
          </a:xfrm>
        </p:spPr>
        <p:txBody>
          <a:bodyPr>
            <a:noAutofit/>
          </a:bodyPr>
          <a:lstStyle>
            <a:lvl1pPr algn="ctr"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3A3F9D5D-A5CF-482B-A14C-E5BFADB76F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76021" y="5124103"/>
            <a:ext cx="1790700" cy="350292"/>
          </a:xfrm>
        </p:spPr>
        <p:txBody>
          <a:bodyPr>
            <a:normAutofit/>
          </a:bodyPr>
          <a:lstStyle>
            <a:lvl1pPr algn="ctr"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A4F265B4-1FBB-4396-A938-862D45713AE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76021" y="5458421"/>
            <a:ext cx="1790700" cy="350292"/>
          </a:xfrm>
        </p:spPr>
        <p:txBody>
          <a:bodyPr>
            <a:noAutofit/>
          </a:bodyPr>
          <a:lstStyle>
            <a:lvl1pPr algn="ctr"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AC1BA7DC-98B0-4261-8F1E-8101FB5D480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34500" y="5124103"/>
            <a:ext cx="1790700" cy="350292"/>
          </a:xfrm>
        </p:spPr>
        <p:txBody>
          <a:bodyPr>
            <a:normAutofit/>
          </a:bodyPr>
          <a:lstStyle>
            <a:lvl1pPr algn="ctr"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2E4EF69E-34E2-46FF-A0FA-3F136396D3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34500" y="5458421"/>
            <a:ext cx="1790700" cy="350292"/>
          </a:xfrm>
        </p:spPr>
        <p:txBody>
          <a:bodyPr>
            <a:noAutofit/>
          </a:bodyPr>
          <a:lstStyle>
            <a:lvl1pPr algn="ctr"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417916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68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/>
            </a:lvl1pPr>
            <a:lvl2pPr>
              <a:defRPr sz="1800"/>
            </a:lvl2pPr>
            <a:lvl3pPr marL="560070" indent="-285750">
              <a:buFont typeface="Arial" panose="020B0604020202020204" pitchFamily="34" charset="0"/>
              <a:buChar char="•"/>
              <a:defRPr sz="1400"/>
            </a:lvl3pPr>
            <a:lvl4pPr>
              <a:defRPr sz="1400"/>
            </a:lvl4pPr>
            <a:lvl5pPr marL="88011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/>
            </a:lvl1pPr>
            <a:lvl2pPr>
              <a:defRPr sz="1800"/>
            </a:lvl2pPr>
            <a:lvl3pPr marL="560070" indent="-285750">
              <a:buFont typeface="Arial" panose="020B0604020202020204" pitchFamily="34" charset="0"/>
              <a:buChar char="•"/>
              <a:defRPr sz="1400"/>
            </a:lvl3pPr>
            <a:lvl4pPr>
              <a:defRPr sz="1400"/>
            </a:lvl4pPr>
            <a:lvl5pPr marL="88011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593407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021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3236976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3236976" cy="2586806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700"/>
            </a:lvl1pPr>
            <a:lvl2pPr>
              <a:defRPr sz="1800"/>
            </a:lvl2pPr>
            <a:lvl3pPr marL="560070" indent="-285750">
              <a:buFont typeface="Arial" panose="020B0604020202020204" pitchFamily="34" charset="0"/>
              <a:buChar char="•"/>
              <a:defRPr sz="1400"/>
            </a:lvl3pPr>
            <a:lvl4pPr>
              <a:defRPr sz="1400"/>
            </a:lvl4pPr>
            <a:lvl5pPr marL="88011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77512" y="2587752"/>
            <a:ext cx="3236976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77512" y="3594538"/>
            <a:ext cx="3236976" cy="2586806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700"/>
            </a:lvl1pPr>
            <a:lvl2pPr>
              <a:defRPr sz="1800"/>
            </a:lvl2pPr>
            <a:lvl3pPr marL="560070" indent="-285750">
              <a:buFont typeface="Arial" panose="020B0604020202020204" pitchFamily="34" charset="0"/>
              <a:buChar char="•"/>
              <a:defRPr sz="1400"/>
            </a:lvl3pPr>
            <a:lvl4pPr>
              <a:defRPr sz="1400"/>
            </a:lvl4pPr>
            <a:lvl5pPr marL="88011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054C03E-8FD4-4345-A971-0A2CCF5C4A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94903" y="2587752"/>
            <a:ext cx="3236976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56D09A0C-509F-447E-AFB1-5531727D7DF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4903" y="3594538"/>
            <a:ext cx="3236976" cy="2586806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700"/>
            </a:lvl1pPr>
            <a:lvl2pPr>
              <a:defRPr sz="1800"/>
            </a:lvl2pPr>
            <a:lvl3pPr marL="560070" indent="-285750">
              <a:buFont typeface="Arial" panose="020B0604020202020204" pitchFamily="34" charset="0"/>
              <a:buChar char="•"/>
              <a:defRPr sz="1400"/>
            </a:lvl3pPr>
            <a:lvl4pPr>
              <a:defRPr sz="1400"/>
            </a:lvl4pPr>
            <a:lvl5pPr marL="88011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417916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459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984A150-581C-4608-9034-48767311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F7571-A130-4054-9513-4BDAC9AE5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830" y="635000"/>
            <a:ext cx="5171770" cy="2039374"/>
          </a:xfrm>
        </p:spPr>
        <p:txBody>
          <a:bodyPr anchor="b">
            <a:noAutofit/>
          </a:bodyPr>
          <a:lstStyle>
            <a:lvl1pPr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defRPr sz="6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A27FA5-F6EE-4784-AC43-76381FC2CD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61998" y="2911475"/>
            <a:ext cx="4500563" cy="3311525"/>
          </a:xfrm>
        </p:spPr>
        <p:txBody>
          <a:bodyPr>
            <a:normAutofit/>
          </a:bodyPr>
          <a:lstStyle>
            <a:lvl1pPr>
              <a:defRPr lang="en-US" sz="2200" kern="1200" spc="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094F8F4-63E4-4A00-8F98-09219DA987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42113" y="639763"/>
            <a:ext cx="2198687" cy="2546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34D9F00-72E9-433A-9427-8DA07653B2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37675" y="638175"/>
            <a:ext cx="2198688" cy="2546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AD0C148-B6DB-4D32-B139-403A6AEC3DD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2113" y="3668713"/>
            <a:ext cx="2198687" cy="25542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9D424B8-9E08-469D-88C8-019306CA382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37675" y="3668713"/>
            <a:ext cx="2198688" cy="25463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925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D15A25-1111-478B-8F77-D992652C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90108" y="1225106"/>
            <a:ext cx="8201891" cy="39518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6A3D1-C594-4520-A142-F0D3F59C5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5193" y="3036762"/>
            <a:ext cx="7136064" cy="1700784"/>
          </a:xfrm>
        </p:spPr>
        <p:txBody>
          <a:bodyPr/>
          <a:lstStyle>
            <a:lvl1pPr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2FBE291-E88A-44C5-884C-183EE7F67E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2804" y="1225484"/>
            <a:ext cx="4059934" cy="395180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FF791A-8D73-49AD-8569-7F4FE146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779" y="5355583"/>
            <a:ext cx="2270162" cy="577153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cs typeface="Calibri"/>
              </a:rPr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16F6145-A1AE-4CDA-AE26-E8FDEFAAB39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984437" y="5355583"/>
            <a:ext cx="2270162" cy="577153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cs typeface="Calibri"/>
              </a:rPr>
              <a:t>Click to edit Master text styles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FDD02FA-6843-4E54-ACDC-AFEAFB4EFAA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421095" y="5355583"/>
            <a:ext cx="2270162" cy="577153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cs typeface="Calibri"/>
              </a:rPr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99AED-D702-41BF-B21E-9BFB06308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40505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4C4BB-67B0-4BF7-A7D4-4222652EDB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2C385-1FC3-453C-952E-8DDB1B05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245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17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73" r:id="rId4"/>
    <p:sldLayoutId id="2147483672" r:id="rId5"/>
    <p:sldLayoutId id="2147483686" r:id="rId6"/>
    <p:sldLayoutId id="2147483687" r:id="rId7"/>
    <p:sldLayoutId id="2147483675" r:id="rId8"/>
    <p:sldLayoutId id="2147483688" r:id="rId9"/>
    <p:sldLayoutId id="2147483682" r:id="rId10"/>
    <p:sldLayoutId id="214748368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dahlquist/DahlquistLab/tree/master/data/Spring2024/Random%20Networks%203%20genes%2C%204%20edges" TargetMode="External"/><Relationship Id="rId2" Type="http://schemas.openxmlformats.org/officeDocument/2006/relationships/hyperlink" Target="https://github.com/kdahlquist/DahlquistLab/blob/master/R_scripts/Random-Matrix.R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ithub.com/kdahlquist/DahlquistLab/tree/master/data/Spring2024/Forward%20Simulation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dahlquist/DahlquistLab/tree/master/data/Spring2024/Parameter%20Estimation/Alpha%2010%5E-8%20and%20constants" TargetMode="External"/><Relationship Id="rId2" Type="http://schemas.openxmlformats.org/officeDocument/2006/relationships/hyperlink" Target="https://github.com/kdahlquist/DahlquistLab/tree/master/data/Spring2024/Parameter%20Estimation/Alpha%2010%5E-8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dahlquist/DahlquistLab/tree/master/data/Spring2024/Parameter%20Estimation/Alpha%2010%5E-1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8C4EFE6-2069-473C-9C7D-664E02AC6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627016"/>
            <a:ext cx="6389027" cy="5601790"/>
          </a:xfrm>
        </p:spPr>
        <p:txBody>
          <a:bodyPr/>
          <a:lstStyle/>
          <a:p>
            <a:pPr algn="l"/>
            <a:r>
              <a:rPr lang="en-US" dirty="0"/>
              <a:t>Research Overview </a:t>
            </a:r>
            <a:br>
              <a:rPr lang="en-US" dirty="0"/>
            </a:br>
            <a:r>
              <a:rPr lang="en-US" dirty="0"/>
              <a:t>			 </a:t>
            </a:r>
            <a:r>
              <a:rPr lang="en-US" sz="4400" dirty="0"/>
              <a:t>Spring 2024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A309D09-2937-4053-9CD6-3131EABB07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9797" y="627016"/>
            <a:ext cx="3199034" cy="5590903"/>
          </a:xfrm>
        </p:spPr>
        <p:txBody>
          <a:bodyPr/>
          <a:lstStyle/>
          <a:p>
            <a:r>
              <a:rPr lang="en-US" dirty="0"/>
              <a:t>Nikki Chun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/>
          <a:lstStyle/>
          <a:p>
            <a:r>
              <a:rPr lang="en-US" dirty="0"/>
              <a:t>Creation of “toy” network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60119" y="2533382"/>
            <a:ext cx="10268711" cy="368679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Necessary because of variances between GRNmap outputs of data from missing and no missing data network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Purpose: Generate a network with 3 nodes and 4 edges for further analysis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Methods: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Used one of the </a:t>
            </a:r>
            <a:r>
              <a:rPr lang="en-US" dirty="0">
                <a:hlinkClick r:id="rId2"/>
              </a:rPr>
              <a:t>R scripts</a:t>
            </a:r>
            <a:r>
              <a:rPr lang="en-US" dirty="0"/>
              <a:t> on the GitHub to attempt to generate all possible connected networks of </a:t>
            </a:r>
            <a:r>
              <a:rPr lang="en-US" dirty="0">
                <a:hlinkClick r:id="rId3"/>
              </a:rPr>
              <a:t>3 nodes and 4 edges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From the list of random networks, 3 were chosen to do further testing 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Averages of db5 data were taken to use as P’s and B’s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hlinkClick r:id="rId4"/>
              </a:rPr>
              <a:t>Forward simulations </a:t>
            </a:r>
            <a:r>
              <a:rPr lang="en-US" dirty="0"/>
              <a:t>were then conducted to generate the expression data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CC302B43-8755-4B25-A036-68EFC879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/>
          <a:lstStyle/>
          <a:p>
            <a:fld id="{F97E8200-1950-409B-82E7-99938E7AE35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189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/>
          <a:lstStyle/>
          <a:p>
            <a:r>
              <a:rPr lang="en-US" dirty="0"/>
              <a:t>Alpha Value Manipulation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60119" y="2533382"/>
            <a:ext cx="10268711" cy="368679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A series of manipulation to the data was then conducted beginning with using a smaller alpha. </a:t>
            </a:r>
          </a:p>
          <a:p>
            <a:pPr marL="342900" lvl="2" indent="-342900">
              <a:lnSpc>
                <a:spcPct val="100000"/>
              </a:lnSpc>
            </a:pPr>
            <a:r>
              <a:rPr lang="en-US" sz="2000" b="0" dirty="0"/>
              <a:t>Since there is inherently no noise in our model, a smaller alpha was needed</a:t>
            </a:r>
          </a:p>
          <a:p>
            <a:pPr marL="0" lvl="1" indent="0">
              <a:lnSpc>
                <a:spcPct val="100000"/>
              </a:lnSpc>
              <a:buNone/>
            </a:pPr>
            <a:r>
              <a:rPr lang="en-US" sz="2000" dirty="0"/>
              <a:t>Alpha values of </a:t>
            </a:r>
            <a:r>
              <a:rPr lang="en-US" sz="2000" dirty="0">
                <a:hlinkClick r:id="rId2"/>
              </a:rPr>
              <a:t>10^-8 </a:t>
            </a:r>
            <a:r>
              <a:rPr lang="en-US" sz="2000" dirty="0"/>
              <a:t>and then combinations of this smaller alpha value and also holding the </a:t>
            </a:r>
            <a:r>
              <a:rPr lang="en-US" sz="2000" dirty="0">
                <a:hlinkClick r:id="rId3"/>
              </a:rPr>
              <a:t>P’s and B’s constant</a:t>
            </a:r>
            <a:r>
              <a:rPr lang="en-US" sz="2000" dirty="0"/>
              <a:t> were used as inputs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0" dirty="0"/>
              <a:t>There continued to be variance between the expression data and the expected expression data from the forward simulation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CC302B43-8755-4B25-A036-68EFC879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/>
          <a:lstStyle/>
          <a:p>
            <a:fld id="{F97E8200-1950-409B-82E7-99938E7AE35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07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sz="4000" dirty="0"/>
              <a:t>Alpha Value and Tolx/</a:t>
            </a:r>
            <a:r>
              <a:rPr lang="en-US" sz="4000" dirty="0" err="1"/>
              <a:t>TOLfun</a:t>
            </a:r>
            <a:r>
              <a:rPr lang="en-US" sz="4000" dirty="0"/>
              <a:t> Manipulation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60119" y="2533382"/>
            <a:ext cx="10268711" cy="368679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0" dirty="0"/>
              <a:t>The alpha value was then once again lowered to 10^-15 now. Runs were conducted with this </a:t>
            </a:r>
            <a:r>
              <a:rPr lang="en-US" sz="2000" b="0" dirty="0">
                <a:hlinkClick r:id="rId3"/>
              </a:rPr>
              <a:t>lowered alpha value combined with smaller tolx and tolfun values</a:t>
            </a:r>
            <a:r>
              <a:rPr lang="en-US" sz="2000" b="0" dirty="0"/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0" dirty="0"/>
              <a:t>For each combination of changed inputs (tolx, tolfun, and tolx and tolfun) runs were conducted with holding P’s, holding B’s, holding P’s and B’s and no constants.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0" dirty="0"/>
              <a:t>After viewing </a:t>
            </a:r>
            <a:r>
              <a:rPr lang="en-US" dirty="0"/>
              <a:t>each gene’s output graph, it was observed that the data levels out and becomes steady relatively fast (within the first 10-15 minutes). As such, the variance that was found might not be a problem of the model, but rather the data being too steady.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0"/>
              <a:t>To further </a:t>
            </a:r>
            <a:r>
              <a:rPr lang="en-US" sz="2000" b="0" dirty="0"/>
              <a:t>evaluate this claim, runs were attempted with input workbooks created from the data within the first 15 minutes (timepoints at 5, 10, and 15 min)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CC302B43-8755-4B25-A036-68EFC879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/>
          <a:lstStyle/>
          <a:p>
            <a:fld id="{F97E8200-1950-409B-82E7-99938E7AE35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80709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70f1269-45c1-4463-99ba-5dc4e57c7df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B5B7ED115EF04980BBFAFC51672553" ma:contentTypeVersion="9" ma:contentTypeDescription="Create a new document." ma:contentTypeScope="" ma:versionID="43a679fe5cbd3b1dc01cea5b3bb6a16a">
  <xsd:schema xmlns:xsd="http://www.w3.org/2001/XMLSchema" xmlns:xs="http://www.w3.org/2001/XMLSchema" xmlns:p="http://schemas.microsoft.com/office/2006/metadata/properties" xmlns:ns3="070f1269-45c1-4463-99ba-5dc4e57c7dff" xmlns:ns4="7bf50b4b-6300-445a-aea1-306a2291592c" targetNamespace="http://schemas.microsoft.com/office/2006/metadata/properties" ma:root="true" ma:fieldsID="b0963d0390b393dc53bf13ff5a8315f4" ns3:_="" ns4:_="">
    <xsd:import namespace="070f1269-45c1-4463-99ba-5dc4e57c7dff"/>
    <xsd:import namespace="7bf50b4b-6300-445a-aea1-306a2291592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0f1269-45c1-4463-99ba-5dc4e57c7d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f50b4b-6300-445a-aea1-306a229159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51B918-0091-4E96-9E28-42B87D9557A7}">
  <ds:schemaRefs>
    <ds:schemaRef ds:uri="http://www.w3.org/XML/1998/namespace"/>
    <ds:schemaRef ds:uri="http://purl.org/dc/elements/1.1/"/>
    <ds:schemaRef ds:uri="http://schemas.microsoft.com/office/2006/documentManagement/types"/>
    <ds:schemaRef ds:uri="http://purl.org/dc/dcmitype/"/>
    <ds:schemaRef ds:uri="http://purl.org/dc/terms/"/>
    <ds:schemaRef ds:uri="070f1269-45c1-4463-99ba-5dc4e57c7dff"/>
    <ds:schemaRef ds:uri="http://schemas.openxmlformats.org/package/2006/metadata/core-properties"/>
    <ds:schemaRef ds:uri="http://schemas.microsoft.com/office/infopath/2007/PartnerControls"/>
    <ds:schemaRef ds:uri="7bf50b4b-6300-445a-aea1-306a2291592c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A0EFE35-5C2D-4EEC-93CA-7B3D408873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F7289A-B0EA-4080-AB1D-ECE7CF4972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0f1269-45c1-4463-99ba-5dc4e57c7dff"/>
    <ds:schemaRef ds:uri="7bf50b4b-6300-445a-aea1-306a229159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Fracture design</Template>
  <TotalTime>559</TotalTime>
  <Words>404</Words>
  <Application>Microsoft Office PowerPoint</Application>
  <PresentationFormat>Widescreen</PresentationFormat>
  <Paragraphs>28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Franklin Gothic Demi Cond</vt:lpstr>
      <vt:lpstr>Franklin Gothic Medium</vt:lpstr>
      <vt:lpstr>Wingdings</vt:lpstr>
      <vt:lpstr>JuxtaposeVTI</vt:lpstr>
      <vt:lpstr>Research Overview      Spring 2024</vt:lpstr>
      <vt:lpstr>Creation of “toy” network</vt:lpstr>
      <vt:lpstr>Alpha Value Manipulation</vt:lpstr>
      <vt:lpstr>Alpha Value and Tolx/TOLfun Manipulation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Overview      Spring 2024</dc:title>
  <dc:creator>Chun, Nikki</dc:creator>
  <cp:lastModifiedBy>Chun, Nikki</cp:lastModifiedBy>
  <cp:revision>1</cp:revision>
  <dcterms:created xsi:type="dcterms:W3CDTF">2024-04-23T16:54:43Z</dcterms:created>
  <dcterms:modified xsi:type="dcterms:W3CDTF">2024-04-24T02:14:34Z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0x0101008DB5B7ED115EF04980BBFAFC51672553</vt:lpwstr>
  </property>
</Properties>
</file>